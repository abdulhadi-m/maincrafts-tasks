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2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2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F57-B04F-9B4D-C058A4A7CC32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F57-B04F-9B4D-C058A4A7CC32}"/>
              </c:ext>
            </c:extLst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F57-B04F-9B4D-C058A4A7CC32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51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F57-B04F-9B4D-C058A4A7CC3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70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F57-B04F-9B4D-C058A4A7CC3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63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F57-B04F-9B4D-C058A4A7CC32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MAE ($K)</c:v>
                </c:pt>
                <c:pt idx="1">
                  <c:v>RMSE ($K)</c:v>
                </c:pt>
                <c:pt idx="2">
                  <c:v>R² × 100K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49.4</c:v>
                </c:pt>
                <c:pt idx="1">
                  <c:v>71.2</c:v>
                </c:pt>
                <c:pt idx="2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F57-B04F-9B4D-C058A4A7CC3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37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1869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457200"/>
            <a:ext cx="3474720" cy="3474720"/>
          </a:xfrm>
          <a:prstGeom prst="ellipse">
            <a:avLst/>
          </a:prstGeom>
          <a:solidFill>
            <a:srgbClr val="0F2A3A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766560" y="1005840"/>
            <a:ext cx="2377440" cy="237744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Housing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Prediction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Project  |  ML Lifecycle Demonstration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48840" y="320040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48840" y="32004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0" y="320040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0" y="32004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32120" y="320040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32120" y="32004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23760" y="320040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223760" y="32004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246888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8587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~50.7K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7200" y="426110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3840480"/>
            <a:ext cx="246888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0" y="38587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~70K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200400" y="426110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0" y="3840480"/>
            <a:ext cx="246888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0" y="38587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~0.63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943600" y="426110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73152" cy="3749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241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California housing prices using a Linear Regression model trained on the classic California Housing dataset.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Housing dataset (Kaggle CSV). 20,640 rows with housing-related features including income, rooms, population, and location.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1879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median_house_value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63440" y="141732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14813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EDA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80136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correlations, missing value analysis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12280" y="141732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03720" y="14813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Preprocessing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03720" y="180136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encoding, mean imputation, feature selection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60604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26700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Model Training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299008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with 80/20 train-test split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12280" y="260604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03720" y="26700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Evaluation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03720" y="299008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RMSE, R² score metrics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379476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38587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Visualization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417880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plots, heatmap, residual distribution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12280" y="379476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03720" y="38587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Reporting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03720" y="417880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+ PDF slide deck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6400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96926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96926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7552" y="129844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pandas, </a:t>
            </a:r>
            <a:r>
              <a:rPr lang="en-US" sz="9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scikit-learn, matplotlib, seaborn, </a:t>
            </a:r>
            <a:r>
              <a:rPr lang="en-US" sz="9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02336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6400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96926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68112" y="96926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Dataset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68112" y="129844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pd.read_csv() with California Housing CSV; verified shape (20,640 × 10)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965960"/>
            <a:ext cx="402336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1965960"/>
            <a:ext cx="6400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02082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87552" y="202082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87552" y="235000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exploratory data analysis using </a:t>
            </a:r>
            <a:r>
              <a:rPr lang="en-US" sz="9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df.head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(), </a:t>
            </a:r>
            <a:r>
              <a:rPr lang="en-US" sz="9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df.info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(), </a:t>
            </a:r>
            <a:r>
              <a:rPr lang="en-US" sz="9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df.describe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(), and correlation heatmap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1965960"/>
            <a:ext cx="402336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1965960"/>
            <a:ext cx="6400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202082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68112" y="202082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68112" y="235000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one-hot encoding using </a:t>
            </a:r>
            <a:r>
              <a:rPr lang="en-US" sz="9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pd.get_dummies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and handled missing values using mean imputation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017520"/>
            <a:ext cx="402336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3017520"/>
            <a:ext cx="6400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307238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87552" y="307238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87552" y="340156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 using </a:t>
            </a:r>
            <a:r>
              <a:rPr lang="en-US" sz="9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train_test_split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9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=42)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017520"/>
            <a:ext cx="402336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3017520"/>
            <a:ext cx="6400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92040" y="307238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68112" y="307238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68112" y="340156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LinearRegression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().fit(</a:t>
            </a:r>
            <a:r>
              <a:rPr lang="en-US" sz="9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X_train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y_train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14600" y="4069080"/>
            <a:ext cx="402336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514600" y="4069080"/>
            <a:ext cx="640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651760" y="412394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227832" y="412394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227832" y="445312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MAE, RMSE, R² on held-out test set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Preprocessing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794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20,640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965960" y="1499616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 in dataset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56616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cs typeface="Calibri" pitchFamily="34" charset="-120"/>
              </a:rPr>
              <a:t>13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965960" y="212140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input features after encoding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356616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70662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965960" y="27432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in total_bedrooms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63824"/>
            <a:ext cx="356616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32841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965960" y="3364992"/>
            <a:ext cx="1730717" cy="320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correlation: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median_income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median_house_value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785616"/>
            <a:ext cx="356616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95020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$206K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965960" y="3986784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target value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914400"/>
            <a:ext cx="41148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444752"/>
            <a:ext cx="388620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754880" y="1444752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92040" y="148132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Categoricals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176479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pd.get_dummies(df, drop_first=True)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Converts </a:t>
            </a:r>
            <a:r>
              <a:rPr lang="en-US" sz="85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ocean_proximity</a:t>
            </a: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into numeric dummy columns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54880" y="2249424"/>
            <a:ext cx="388620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54880" y="2249424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92040" y="228600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Missing Values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256946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df.fillna(df.mean())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Imputes 207 NaN rows in total_bedrooms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54880" y="3054096"/>
            <a:ext cx="388620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54880" y="3054096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92040" y="309067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337413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sns.heatmap(df.corr(), cmap='coolwarm')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Identifies feature relationships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54880" y="3858768"/>
            <a:ext cx="388620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54880" y="3858768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92040" y="389534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Feature/Target Split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92040" y="417880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df.drop('median_house_value')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df['median_house_value']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0604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6060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515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57276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~$50,700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221284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25146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dollar deviation per prediction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914400"/>
            <a:ext cx="260604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54680" y="914400"/>
            <a:ext cx="26060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54680" y="10515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154680" y="157276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~$70,000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46120" y="221284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46120" y="25146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large errors more heavily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89320" y="914400"/>
            <a:ext cx="260604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89320" y="914400"/>
            <a:ext cx="26060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89320" y="10515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989320" y="157276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~0.63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080760" y="221284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80760" y="25146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price variance explained by the model</a:t>
            </a:r>
            <a:endParaRPr lang="en-US" sz="1000" dirty="0"/>
          </a:p>
        </p:txBody>
      </p:sp>
      <p:graphicFrame>
        <p:nvGraphicFramePr>
          <p:cNvPr id="22" name="Chart 0"/>
          <p:cNvGraphicFramePr/>
          <p:nvPr>
            <p:extLst>
              <p:ext uri="{D42A27DB-BD31-4B8C-83A1-F6EECF244321}">
                <p14:modId xmlns:p14="http://schemas.microsoft.com/office/powerpoint/2010/main" val="1811117517"/>
              </p:ext>
            </p:extLst>
          </p:nvPr>
        </p:nvGraphicFramePr>
        <p:xfrm>
          <a:off x="274320" y="3337560"/>
          <a:ext cx="5303520" cy="150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Shape 20"/>
          <p:cNvSpPr/>
          <p:nvPr/>
        </p:nvSpPr>
        <p:spPr>
          <a:xfrm>
            <a:off x="5760720" y="3337560"/>
            <a:ext cx="301752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760720" y="3337560"/>
            <a:ext cx="64008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897880" y="340156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897880" y="37490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of 0.63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solid baseline for Linear Regression on this dataset. The model captures the main pricing trends but leaves room for improvement with tree-based models.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Generated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7315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1498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🌡️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88720" y="10241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3716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sns.heatmap(df.corr(), cmap='coolwarm')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26280" y="1097280"/>
            <a:ext cx="0" cy="9144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09160" y="1024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09160" y="1307592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that median_income has the strongest positive correlation with house value (r ≈ 0.69). Latitude shows moderate negative correlation with house prices.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313432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313432"/>
            <a:ext cx="7315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368296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1887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7249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plt.scatter(y_test, y_pred)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26280" y="2450592"/>
            <a:ext cx="0" cy="9144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09160" y="2377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2660904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closer to the diagonal line indicate better prediction accuracy. Spread at higher values shows the model understimates expensive homes.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666744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666744"/>
            <a:ext cx="7315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72160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188720" y="37307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Distribution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407822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sns.histplot(residuals, bins=50, kde=True)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26280" y="3803904"/>
            <a:ext cx="0" cy="9144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09160" y="37307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4014216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are centered near 0, indicating reasonably balanced prediction errors. Slight right skew from high-value homes.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&amp; 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9784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ML Lifecycle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280160"/>
            <a:ext cx="7635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executed end-to-end: data loading → EDA → preprocessing → training → evaluation → reporting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664208"/>
            <a:ext cx="859536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7099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17282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Limitations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2029968"/>
            <a:ext cx="7635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achieves R² ≈ 0.63. Housing prices have non-linear patterns better suited for Random Forest or </a:t>
            </a:r>
            <a:r>
              <a:rPr lang="en-US" sz="10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414016"/>
            <a:ext cx="859536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45973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🧹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560" y="24780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Matters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779776"/>
            <a:ext cx="7635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 missing values in total_bedrooms required mean imputation; ocean_proximity needed one-hot encoding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163824"/>
            <a:ext cx="859536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20954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51560" y="32278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529584"/>
            <a:ext cx="7635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median_income emerged as the strongest predictor (correlation ≈ 0.69), validating economic intuition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913632"/>
            <a:ext cx="859536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39593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51560" y="3977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4279392"/>
            <a:ext cx="7635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engineering, polynomial features, regularization (Ridge/Lasso), or ensemble methods to improve R²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4320" y="46177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702</Words>
  <Application>Microsoft Macintosh PowerPoint</Application>
  <PresentationFormat>On-screen Show (16:9)</PresentationFormat>
  <Paragraphs>138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California Housing Price Prediction</dc:title>
  <dc:subject>PptxGenJS Presentation</dc:subject>
  <dc:creator>PptxGenJS</dc:creator>
  <cp:lastModifiedBy>ARHAM ADEEM</cp:lastModifiedBy>
  <cp:revision>10</cp:revision>
  <dcterms:created xsi:type="dcterms:W3CDTF">2026-05-08T10:19:36Z</dcterms:created>
  <dcterms:modified xsi:type="dcterms:W3CDTF">2026-05-08T10:47:41Z</dcterms:modified>
</cp:coreProperties>
</file>